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· New Modules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 →  Clients  →  Real Estate Properties  →  New OBCs  →  Projects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Content Bank, Comments and Minutes of Meeting (MOM)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new modules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flows left to right; every OBC and project traces back to a company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developer master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331720"/>
            <a:ext cx="192024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371600"/>
            <a:ext cx="14630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linked to a company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2331720"/>
            <a:ext cx="192024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371600"/>
            <a:ext cx="14630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configs, Drive media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21808" y="2331720"/>
            <a:ext cx="192024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32120" y="1371600"/>
            <a:ext cx="14630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from Zoho quotes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13448" y="2331720"/>
            <a:ext cx="192024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1371600"/>
            <a:ext cx="14630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Bank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Content Writers, read by other teams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Companies, Clients, Properties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Meeting (rich text)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module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connects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→ many clients → many properties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3258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1792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Company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4231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4747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linked yet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Company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1920240"/>
            <a:ext cx="0" cy="50292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920240"/>
            <a:ext cx="0" cy="50292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52044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7432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Property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Client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352044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37744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Property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Client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5204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1792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Property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Client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017520"/>
            <a:ext cx="0" cy="27432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3291840"/>
            <a:ext cx="21031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3291840"/>
            <a:ext cx="0" cy="22860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291840"/>
            <a:ext cx="0" cy="22860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3017520"/>
            <a:ext cx="0" cy="50292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98848"/>
            <a:ext cx="146304" cy="146304"/>
          </a:xfrm>
          <a:prstGeom prst="ellipse">
            <a:avLst/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4498848"/>
            <a:ext cx="146304" cy="146304"/>
          </a:xfrm>
          <a:prstGeom prst="ellipse">
            <a:avLst/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21408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4498848"/>
            <a:ext cx="146304" cy="146304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84448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always carries both its company and its client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1 &amp; 2 · Companies and Clients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created first; clients pick their company from a dropdown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01168" cy="201168"/>
          </a:xfrm>
          <a:prstGeom prst="ellipse">
            <a:avLst/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435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&amp; legal name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GSTIN, PAN, RERA promoter 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address, city, website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phone &amp; email, logo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 (agency side), status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MOM tabs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08760"/>
            <a:ext cx="201168" cy="201168"/>
          </a:xfrm>
          <a:prstGeom prst="ellipse">
            <a:avLst/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0368" y="1435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7452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(dropdown, required)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&amp; designation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WhatsApp, email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decision maker / influencer / coordinator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/ inactive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MOM tabs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7408" y="2651760"/>
            <a:ext cx="329184" cy="0"/>
          </a:xfrm>
          <a:prstGeom prst="line">
            <a:avLst/>
          </a:prstGeom>
          <a:noFill/>
          <a:ln w="19050">
            <a:solidFill>
              <a:srgbClr val="E07A3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Real Estate Property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company and a client, with unit configurations as line items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01168" cy="20116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435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154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(dropdown)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(dropdown, filtered by company)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&amp; description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as text + Google Maps URL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MahaRERA number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MOM tabs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configuration (line items)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Sq.ft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BHK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65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BHK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1.05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BHK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1.60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38912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values. Add row / remove row per property; Status is a dropdown: Open or Sold out.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media on Google Drive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creates the folder structure, then users upload into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property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exists with company &amp; 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13432" y="1623060"/>
            <a:ext cx="265176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060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Directory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creates the Drive folder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623060"/>
            <a:ext cx="265176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Sub-folders made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media folders inside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1112" y="1623060"/>
            <a:ext cx="265176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media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go straight to Drive; links shown in PMS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 / Clients / </a:t>
            </a:r>
            <a:pPr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1 / Client 1 / Real Estate Property 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Property Brochure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33832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3D Walkthrough Video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33832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Drone Video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279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IDs are stored on the property, so re-clicking never creates duplicates.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New OBC to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Executive raises the OBC; a manager or above converts it into a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965960"/>
            <a:ext cx="210312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67128" y="1645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67128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company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48456" y="1965960"/>
            <a:ext cx="210312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77056" y="1645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77056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client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58384" y="1965960"/>
            <a:ext cx="210312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86984" y="1645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86984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quotes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for that client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68312" y="1965960"/>
            <a:ext cx="210312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96912" y="16459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96912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OBC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values locked in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Executive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8432" y="2743200"/>
            <a:ext cx="0" cy="411480"/>
          </a:xfrm>
          <a:prstGeom prst="line">
            <a:avLst/>
          </a:prstGeom>
          <a:noFill/>
          <a:ln w="19050">
            <a:solidFill>
              <a:srgbClr val="1F2A3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32004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76072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from OBC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Admin · Manager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inherits company, client, property and quoted services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 status moves: Draft → Submitted → Converted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are read from Zoho CRM, not re-typed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permissions for the new modules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edit Companies &amp;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edit Properties &amp; Drive folders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New OBC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OBC to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Comments &amp; MOM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Content Bank (Content Writer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OBC → Project rule and Content Bank write access. Other rows are a proposal.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· Comments and MOM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records: quick team notes vs. formal client meeting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01168" cy="201168"/>
          </a:xfrm>
          <a:prstGeom prst="ellipse">
            <a:avLst/>
          </a:prstGeom>
          <a:solidFill>
            <a:srgbClr val="3D6E8C"/>
          </a:solidFill>
          <a:ln w="12700">
            <a:solidFill>
              <a:srgbClr val="3D6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435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Companies, Clients and Properties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discussion thread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timestamp on each entry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 a colleague (optional)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08760"/>
            <a:ext cx="201168" cy="20116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0368" y="1435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Meeting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7452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module, including OBCs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typed by the user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date, attendees, title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a history log per record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· Content Bank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Content Writers, read by teams working on the same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saves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on Project 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2377440"/>
            <a:ext cx="512064" cy="0"/>
          </a:xfrm>
          <a:prstGeom prst="line">
            <a:avLst/>
          </a:prstGeom>
          <a:noFill/>
          <a:ln w="19050">
            <a:solidFill>
              <a:srgbClr val="7A5C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8745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7A5C9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Bank entry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against Project X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hyperlink on writer’s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0" cy="1737360"/>
          </a:xfrm>
          <a:prstGeom prst="line">
            <a:avLst/>
          </a:prstGeom>
          <a:noFill/>
          <a:ln w="19050">
            <a:solidFill>
              <a:srgbClr val="C9D1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2377440"/>
            <a:ext cx="256032" cy="0"/>
          </a:xfrm>
          <a:prstGeom prst="line">
            <a:avLst/>
          </a:prstGeom>
          <a:noFill/>
          <a:ln w="19050">
            <a:solidFill>
              <a:srgbClr val="7A5C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691640"/>
            <a:ext cx="274320" cy="0"/>
          </a:xfrm>
          <a:prstGeom prst="line">
            <a:avLst/>
          </a:prstGeom>
          <a:noFill/>
          <a:ln w="19050">
            <a:solidFill>
              <a:srgbClr val="7A5C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32588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task on Project 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link · read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560320"/>
            <a:ext cx="274320" cy="0"/>
          </a:xfrm>
          <a:prstGeom prst="line">
            <a:avLst/>
          </a:prstGeom>
          <a:noFill/>
          <a:ln w="19050">
            <a:solidFill>
              <a:srgbClr val="7A5C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945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Graphics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task on Project X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link · read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429000"/>
            <a:ext cx="274320" cy="0"/>
          </a:xfrm>
          <a:prstGeom prst="line">
            <a:avLst/>
          </a:prstGeom>
          <a:noFill/>
          <a:ln w="19050">
            <a:solidFill>
              <a:srgbClr val="C9D1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06324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03A2E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989320" y="3063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team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 on Project 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063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shown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A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access: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 only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A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with at least one task on the same project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A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appears: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hyperlink on the Content Writer’s task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Bank · Entry fields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is one piece of content, raised against a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093976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1938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Type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938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· 8 options below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752344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2596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Pic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25968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410712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3255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32552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1435608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9472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Description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3852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093976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19472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285232" y="1938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1938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· one or more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5968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2752344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19472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285232" y="2596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Type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25968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· Count or Extra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25526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9472" y="3410712"/>
            <a:ext cx="256032" cy="256032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19472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285232" y="3255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Allotment To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32552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· team members on that project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Type options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4632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Design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490472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517904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Editing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23744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51176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Script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557016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584448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Script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90288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617720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23560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50992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Branding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656832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84264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Content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690104" y="425196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7A5C9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17536" y="42519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Content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33475B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978408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8608" y="1463040"/>
            <a:ext cx="640080" cy="640080"/>
          </a:xfrm>
          <a:prstGeom prst="ellipse">
            <a:avLst/>
          </a:prstGeom>
          <a:solidFill>
            <a:srgbClr val="33475B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783080"/>
            <a:ext cx="978408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8536" y="1463040"/>
            <a:ext cx="640080" cy="640080"/>
          </a:xfrm>
          <a:prstGeom prst="ellipse">
            <a:avLst/>
          </a:prstGeom>
          <a:solidFill>
            <a:srgbClr val="33475B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8853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877056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Drive media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74336" y="1783080"/>
            <a:ext cx="978408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463040"/>
            <a:ext cx="640080" cy="640080"/>
          </a:xfrm>
          <a:prstGeom prst="ellipse">
            <a:avLst/>
          </a:prstGeom>
          <a:solidFill>
            <a:srgbClr val="33475B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9846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86984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6984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quotes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84264" y="1783080"/>
            <a:ext cx="978408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8392" y="1463040"/>
            <a:ext cx="640080" cy="640080"/>
          </a:xfrm>
          <a:prstGeom prst="ellipse">
            <a:avLst/>
          </a:prstGeom>
          <a:solidFill>
            <a:srgbClr val="E07A3F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0839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steps 1–3  ·  MOM on every step  ·  Content Bank links written content to project tasks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 – New Modules Workflow</dc:title>
  <dc:subject>PptxGenJS Presentation</dc:subject>
  <dc:creator>PptxGenJS</dc:creator>
  <cp:lastModifiedBy>PptxGenJS</cp:lastModifiedBy>
  <cp:revision>1</cp:revision>
  <dcterms:created xsi:type="dcterms:W3CDTF">2026-09-18T10:58:53Z</dcterms:created>
  <dcterms:modified xsi:type="dcterms:W3CDTF">2026-09-18T10:58:53Z</dcterms:modified>
</cp:coreProperties>
</file>